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($M)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Y1</c:v>
                </c:pt>
                <c:pt idx="1">
                  <c:v>Y2</c:v>
                </c:pt>
                <c:pt idx="2">
                  <c:v>Y3</c:v>
                </c:pt>
                <c:pt idx="3">
                  <c:v>Y4</c:v>
                </c:pt>
                <c:pt idx="4">
                  <c:v>Y5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1.336</c:v>
                </c:pt>
                <c:pt idx="1">
                  <c:v>6.682</c:v>
                </c:pt>
                <c:pt idx="2">
                  <c:v>20.047</c:v>
                </c:pt>
                <c:pt idx="3">
                  <c:v>66.822</c:v>
                </c:pt>
                <c:pt idx="4">
                  <c:v>133.644</c:v>
                </c:pt>
              </c:numCache>
            </c:numRef>
          </c:val>
        </c:ser>
        <c:dLbls>
          <c:txPr>
            <a:bodyPr/>
            <a:lstStyle/>
            <a:p>
              <a:pPr>
                <a:defRPr sz="8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Opex ($M)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Y1</c:v>
                </c:pt>
                <c:pt idx="1">
                  <c:v>Y2</c:v>
                </c:pt>
                <c:pt idx="2">
                  <c:v>Y3</c:v>
                </c:pt>
                <c:pt idx="3">
                  <c:v>Y4</c:v>
                </c:pt>
                <c:pt idx="4">
                  <c:v>Y5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1.384</c:v>
                </c:pt>
                <c:pt idx="1">
                  <c:v>3.71</c:v>
                </c:pt>
                <c:pt idx="2">
                  <c:v>9.451</c:v>
                </c:pt>
                <c:pt idx="3">
                  <c:v>34.605</c:v>
                </c:pt>
                <c:pt idx="4">
                  <c:v>80.409</c:v>
                </c:pt>
              </c:numCache>
            </c:numRef>
          </c:val>
        </c:ser>
        <c:dLbls>
          <c:txPr>
            <a:bodyPr/>
            <a:lstStyle/>
            <a:p>
              <a:pPr>
                <a:defRPr sz="8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Marketing ($M)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Y1</c:v>
                </c:pt>
                <c:pt idx="1">
                  <c:v>Y2</c:v>
                </c:pt>
                <c:pt idx="2">
                  <c:v>Y3</c:v>
                </c:pt>
                <c:pt idx="3">
                  <c:v>Y4</c:v>
                </c:pt>
                <c:pt idx="4">
                  <c:v>Y5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0.18</c:v>
                </c:pt>
                <c:pt idx="1">
                  <c:v>0.75</c:v>
                </c:pt>
                <c:pt idx="2">
                  <c:v>2.25</c:v>
                </c:pt>
                <c:pt idx="3">
                  <c:v>8.0</c:v>
                </c:pt>
                <c:pt idx="4">
                  <c:v>14.0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EBITDA ($M)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Y1</c:v>
                </c:pt>
                <c:pt idx="1">
                  <c:v>Y2</c:v>
                </c:pt>
                <c:pt idx="2">
                  <c:v>Y3</c:v>
                </c:pt>
                <c:pt idx="3">
                  <c:v>Y4</c:v>
                </c:pt>
                <c:pt idx="4">
                  <c:v>Y5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-0.048</c:v>
                </c:pt>
                <c:pt idx="1">
                  <c:v>2.972</c:v>
                </c:pt>
                <c:pt idx="2">
                  <c:v>10.595</c:v>
                </c:pt>
                <c:pt idx="3">
                  <c:v>32.217</c:v>
                </c:pt>
                <c:pt idx="4">
                  <c:v>53.235</c:v>
                </c:pt>
              </c:numCache>
            </c:numRef>
          </c:val>
        </c:ser>
        <c:dLbls>
          <c:txPr>
            <a:bodyPr/>
            <a:lstStyle/>
            <a:p>
              <a:pPr>
                <a:defRPr sz="8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0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2014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5F8FA"/>
                </a:solidFill>
              </a:rPr>
              <a:t>John Henry Investments Platform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788A96"/>
                </a:solidFill>
              </a:rPr>
              <a:t>AI-powered investment intelligence and family office operating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788A96"/>
                </a:solidFill>
              </a:defRPr>
            </a:pPr>
            <a:r>
              <a:t>John Henry Investments Platform | Confidential planning draft | 1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63040"/>
            <a:ext cx="2148840" cy="960120"/>
          </a:xfrm>
          <a:prstGeom prst="rect">
            <a:avLst/>
          </a:prstGeom>
          <a:solidFill>
            <a:srgbClr val="112130"/>
          </a:solidFill>
          <a:ln>
            <a:solidFill>
              <a:srgbClr val="D7AD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61D394"/>
                </a:solidFill>
              </a:defRPr>
            </a:pPr>
            <a:r>
              <a:t>$133.5M</a:t>
            </a:r>
          </a:p>
          <a:p>
            <a:pPr>
              <a:defRPr sz="900">
                <a:solidFill>
                  <a:srgbClr val="F5F8FA"/>
                </a:solidFill>
              </a:defRPr>
            </a:pPr>
            <a:r>
              <a:t>Base-case DCF value</a:t>
            </a:r>
          </a:p>
        </p:txBody>
      </p:sp>
      <p:sp>
        <p:nvSpPr>
          <p:cNvPr id="6" name="Rectangle 5"/>
          <p:cNvSpPr/>
          <p:nvPr/>
        </p:nvSpPr>
        <p:spPr>
          <a:xfrm>
            <a:off x="3063240" y="1463040"/>
            <a:ext cx="2148840" cy="960120"/>
          </a:xfrm>
          <a:prstGeom prst="rect">
            <a:avLst/>
          </a:prstGeom>
          <a:solidFill>
            <a:srgbClr val="112130"/>
          </a:solidFill>
          <a:ln>
            <a:solidFill>
              <a:srgbClr val="D7AD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61D394"/>
                </a:solidFill>
              </a:defRPr>
            </a:pPr>
            <a:r>
              <a:t>$133.6M</a:t>
            </a:r>
          </a:p>
          <a:p>
            <a:pPr>
              <a:defRPr sz="900">
                <a:solidFill>
                  <a:srgbClr val="F5F8FA"/>
                </a:solidFill>
              </a:defRPr>
            </a:pPr>
            <a:r>
              <a:t>Year 5 revenue</a:t>
            </a:r>
          </a:p>
        </p:txBody>
      </p:sp>
      <p:sp>
        <p:nvSpPr>
          <p:cNvPr id="7" name="Rectangle 6"/>
          <p:cNvSpPr/>
          <p:nvPr/>
        </p:nvSpPr>
        <p:spPr>
          <a:xfrm>
            <a:off x="5394960" y="1463040"/>
            <a:ext cx="2148840" cy="960120"/>
          </a:xfrm>
          <a:prstGeom prst="rect">
            <a:avLst/>
          </a:prstGeom>
          <a:solidFill>
            <a:srgbClr val="112130"/>
          </a:solidFill>
          <a:ln>
            <a:solidFill>
              <a:srgbClr val="D7AD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61D394"/>
                </a:solidFill>
              </a:defRPr>
            </a:pPr>
            <a:r>
              <a:t>$53.2M</a:t>
            </a:r>
          </a:p>
          <a:p>
            <a:pPr>
              <a:defRPr sz="900">
                <a:solidFill>
                  <a:srgbClr val="F5F8FA"/>
                </a:solidFill>
              </a:defRPr>
            </a:pPr>
            <a:r>
              <a:t>Year 5 EBITDA</a:t>
            </a:r>
          </a:p>
        </p:txBody>
      </p:sp>
      <p:sp>
        <p:nvSpPr>
          <p:cNvPr id="8" name="Rectangle 7"/>
          <p:cNvSpPr/>
          <p:nvPr/>
        </p:nvSpPr>
        <p:spPr>
          <a:xfrm>
            <a:off x="7726679" y="1463040"/>
            <a:ext cx="2148840" cy="960120"/>
          </a:xfrm>
          <a:prstGeom prst="rect">
            <a:avLst/>
          </a:prstGeom>
          <a:solidFill>
            <a:srgbClr val="112130"/>
          </a:solidFill>
          <a:ln>
            <a:solidFill>
              <a:srgbClr val="D7AD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61D394"/>
                </a:solidFill>
              </a:defRPr>
            </a:pPr>
            <a:r>
              <a:t>100K</a:t>
            </a:r>
          </a:p>
          <a:p>
            <a:pPr>
              <a:defRPr sz="900">
                <a:solidFill>
                  <a:srgbClr val="F5F8FA"/>
                </a:solidFill>
              </a:defRPr>
            </a:pPr>
            <a:r>
              <a:t>Target platform users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834640"/>
            <a:ext cx="1051560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F5F8FA"/>
                </a:solidFill>
              </a:defRPr>
            </a:pPr>
            <a:r>
              <a:t>Subscription SaaS for investors, acquisition entrepreneurs, family offices, and professional advisors.</a:t>
            </a:r>
          </a:p>
          <a:p>
            <a:pPr>
              <a:spcAft>
                <a:spcPts val="800"/>
              </a:spcAft>
              <a:defRPr sz="1700">
                <a:solidFill>
                  <a:srgbClr val="F5F8FA"/>
                </a:solidFill>
              </a:defRPr>
            </a:pPr>
            <a:r>
              <a:t>Combines opportunity discovery, AI due diligence, macro intelligence, portfolio management, accounting, CRM, and reporting.</a:t>
            </a:r>
          </a:p>
          <a:p>
            <a:pPr>
              <a:spcAft>
                <a:spcPts val="800"/>
              </a:spcAft>
              <a:defRPr sz="1700">
                <a:solidFill>
                  <a:srgbClr val="F5F8FA"/>
                </a:solidFill>
              </a:defRPr>
            </a:pPr>
            <a:r>
              <a:t>Planning package includes pitch deck, DCF model, revenue/expenditure/marketing projections, personnel chart, and risk recommendations.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0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2014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5F8FA"/>
                </a:solidFill>
              </a:rPr>
              <a:t>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788A96"/>
                </a:solidFill>
              </a:rPr>
              <a:t>Investment and acquisition workflows are fragmented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788A96"/>
                </a:solidFill>
              </a:defRPr>
            </a:pPr>
            <a:r>
              <a:t>John Henry Investments Platform | Confidential planning draft |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234440"/>
            <a:ext cx="1051560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F5F8FA"/>
                </a:solidFill>
              </a:defRPr>
            </a:pPr>
            <a:r>
              <a:t>Investors use disconnected tools for research, diligence, reporting, accounting, and CRM.</a:t>
            </a:r>
          </a:p>
          <a:p>
            <a:pPr>
              <a:spcAft>
                <a:spcPts val="800"/>
              </a:spcAft>
              <a:defRPr sz="1600">
                <a:solidFill>
                  <a:srgbClr val="F5F8FA"/>
                </a:solidFill>
              </a:defRPr>
            </a:pPr>
            <a:r>
              <a:t>Business buyers lack integrated SBA, valuation, document review, and debt-service analysis.</a:t>
            </a:r>
          </a:p>
          <a:p>
            <a:pPr>
              <a:spcAft>
                <a:spcPts val="800"/>
              </a:spcAft>
              <a:defRPr sz="1600">
                <a:solidFill>
                  <a:srgbClr val="F5F8FA"/>
                </a:solidFill>
              </a:defRPr>
            </a:pPr>
            <a:r>
              <a:t>Family offices and advisors need repeatable intelligence, governance, portfolio, and report workflows.</a:t>
            </a:r>
          </a:p>
          <a:p>
            <a:pPr>
              <a:spcAft>
                <a:spcPts val="800"/>
              </a:spcAft>
              <a:defRPr sz="1600">
                <a:solidFill>
                  <a:srgbClr val="F5F8FA"/>
                </a:solidFill>
              </a:defRPr>
            </a:pPr>
            <a:r>
              <a:t>AI outputs need structure, scoring, auditability, source discipline, and compliance controls.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0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2014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5F8FA"/>
                </a:solidFill>
              </a:rPr>
              <a:t>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788A96"/>
                </a:solidFill>
              </a:rPr>
              <a:t>A unified investment intelligence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788A96"/>
                </a:solidFill>
              </a:defRPr>
            </a:pPr>
            <a:r>
              <a:t>John Henry Investments Platform | Confidential planning draft |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234440"/>
            <a:ext cx="1051560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F5F8FA"/>
                </a:solidFill>
              </a:defRPr>
            </a:pPr>
            <a:r>
              <a:t>John Henry Opportunity Score across stocks, businesses, crypto, real estate, and macro conditions.</a:t>
            </a:r>
          </a:p>
          <a:p>
            <a:pPr>
              <a:spcAft>
                <a:spcPts val="800"/>
              </a:spcAft>
              <a:defRPr sz="1600">
                <a:solidFill>
                  <a:srgbClr val="F5F8FA"/>
                </a:solidFill>
              </a:defRPr>
            </a:pPr>
            <a:r>
              <a:t>AI due diligence center for P&amp;L, tax returns, balance sheets, bank statements, and fraud/risk flags.</a:t>
            </a:r>
          </a:p>
          <a:p>
            <a:pPr>
              <a:spcAft>
                <a:spcPts val="800"/>
              </a:spcAft>
              <a:defRPr sz="1600">
                <a:solidFill>
                  <a:srgbClr val="F5F8FA"/>
                </a:solidFill>
              </a:defRPr>
            </a:pPr>
            <a:r>
              <a:t>Business acquisition engine with EBITDA, SDE, DSCR, SBA qualification, and valuation models.</a:t>
            </a:r>
          </a:p>
          <a:p>
            <a:pPr>
              <a:spcAft>
                <a:spcPts val="800"/>
              </a:spcAft>
              <a:defRPr sz="1600">
                <a:solidFill>
                  <a:srgbClr val="F5F8FA"/>
                </a:solidFill>
              </a:defRPr>
            </a:pPr>
            <a:r>
              <a:t>Accounting, audit, CRM, banking/vendor, Microsoft Office, and reporting workflows in the backend.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0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2014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5F8FA"/>
                </a:solidFill>
              </a:rPr>
              <a:t>Product modules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788A96"/>
                </a:solidFill>
              </a:rPr>
              <a:t>Platform by module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788A96"/>
                </a:solidFill>
              </a:defRPr>
            </a:pPr>
            <a:r>
              <a:t>John Henry Investments Platform | Confidential planning draft | 4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234440"/>
          <a:ext cx="1078992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94960"/>
                <a:gridCol w="5394960"/>
              </a:tblGrid>
              <a:tr h="64008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071018"/>
                          </a:solidFill>
                        </a:defRPr>
                      </a:pPr>
                      <a:r>
                        <a:t>Layer</a:t>
                      </a:r>
                    </a:p>
                  </a:txBody>
                  <a:tcPr>
                    <a:solidFill>
                      <a:srgbClr val="D7AD5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071018"/>
                          </a:solidFill>
                        </a:defRPr>
                      </a:pPr>
                      <a:r>
                        <a:t>Modules</a:t>
                      </a:r>
                    </a:p>
                  </a:txBody>
                  <a:tcPr>
                    <a:solidFill>
                      <a:srgbClr val="D7AD5B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F5F8FA"/>
                          </a:solidFill>
                        </a:defRPr>
                      </a:pPr>
                      <a:r>
                        <a:t>Core</a:t>
                      </a:r>
                    </a:p>
                  </a:txBody>
                  <a:tcPr>
                    <a:solidFill>
                      <a:srgbClr val="1121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F5F8FA"/>
                          </a:solidFill>
                        </a:defRPr>
                      </a:pPr>
                      <a:r>
                        <a:t>Users, MFA, roles, dashboard</a:t>
                      </a:r>
                    </a:p>
                  </a:txBody>
                  <a:tcPr>
                    <a:solidFill>
                      <a:srgbClr val="112130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F5F8FA"/>
                          </a:solidFill>
                        </a:defRPr>
                      </a:pPr>
                      <a:r>
                        <a:t>Opportunity</a:t>
                      </a:r>
                    </a:p>
                  </a:txBody>
                  <a:tcPr>
                    <a:solidFill>
                      <a:srgbClr val="1121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F5F8FA"/>
                          </a:solidFill>
                        </a:defRPr>
                      </a:pPr>
                      <a:r>
                        <a:t>Discovery, acquisition engine, due diligence</a:t>
                      </a:r>
                    </a:p>
                  </a:txBody>
                  <a:tcPr>
                    <a:solidFill>
                      <a:srgbClr val="112130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F5F8FA"/>
                          </a:solidFill>
                        </a:defRPr>
                      </a:pPr>
                      <a:r>
                        <a:t>Intelligence</a:t>
                      </a:r>
                    </a:p>
                  </a:txBody>
                  <a:tcPr>
                    <a:solidFill>
                      <a:srgbClr val="1121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F5F8FA"/>
                          </a:solidFill>
                        </a:defRPr>
                      </a:pPr>
                      <a:r>
                        <a:t>Macro dashboard, weekly reports, AI assistant</a:t>
                      </a:r>
                    </a:p>
                  </a:txBody>
                  <a:tcPr>
                    <a:solidFill>
                      <a:srgbClr val="112130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F5F8FA"/>
                          </a:solidFill>
                        </a:defRPr>
                      </a:pPr>
                      <a:r>
                        <a:t>Wealth</a:t>
                      </a:r>
                    </a:p>
                  </a:txBody>
                  <a:tcPr>
                    <a:solidFill>
                      <a:srgbClr val="1121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F5F8FA"/>
                          </a:solidFill>
                        </a:defRPr>
                      </a:pPr>
                      <a:r>
                        <a:t>Portfolio tracking, wealth projection</a:t>
                      </a:r>
                    </a:p>
                  </a:txBody>
                  <a:tcPr>
                    <a:solidFill>
                      <a:srgbClr val="112130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F5F8FA"/>
                          </a:solidFill>
                        </a:defRPr>
                      </a:pPr>
                      <a:r>
                        <a:t>Business owner</a:t>
                      </a:r>
                    </a:p>
                  </a:txBody>
                  <a:tcPr>
                    <a:solidFill>
                      <a:srgbClr val="1121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F5F8FA"/>
                          </a:solidFill>
                        </a:defRPr>
                      </a:pPr>
                      <a:r>
                        <a:t>Governance, capital raising</a:t>
                      </a:r>
                    </a:p>
                  </a:txBody>
                  <a:tcPr>
                    <a:solidFill>
                      <a:srgbClr val="112130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F5F8FA"/>
                          </a:solidFill>
                        </a:defRPr>
                      </a:pPr>
                      <a:r>
                        <a:t>Operating system</a:t>
                      </a:r>
                    </a:p>
                  </a:txBody>
                  <a:tcPr>
                    <a:solidFill>
                      <a:srgbClr val="1121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F5F8FA"/>
                          </a:solidFill>
                        </a:defRPr>
                      </a:pPr>
                      <a:r>
                        <a:t>Accounting, CRM, integrations, reporting</a:t>
                      </a:r>
                    </a:p>
                  </a:txBody>
                  <a:tcPr>
                    <a:solidFill>
                      <a:srgbClr val="11213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0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2014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5F8FA"/>
                </a:solidFill>
              </a:rPr>
              <a:t>Revenue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788A96"/>
                </a:solidFill>
              </a:rPr>
              <a:t>B2C + B2B + enterprise subscription plans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788A96"/>
                </a:solidFill>
              </a:defRPr>
            </a:pPr>
            <a:r>
              <a:t>John Henry Investments Platform | Confidential planning draft | 5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280160"/>
          <a:ext cx="1078992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96640"/>
                <a:gridCol w="3596640"/>
                <a:gridCol w="3596640"/>
              </a:tblGrid>
              <a:tr h="54864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071018"/>
                          </a:solidFill>
                        </a:defRPr>
                      </a:pPr>
                      <a:r>
                        <a:t>Plan</a:t>
                      </a:r>
                    </a:p>
                  </a:txBody>
                  <a:tcPr>
                    <a:solidFill>
                      <a:srgbClr val="D7AD5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071018"/>
                          </a:solidFill>
                        </a:defRPr>
                      </a:pPr>
                      <a:r>
                        <a:t>Price</a:t>
                      </a:r>
                    </a:p>
                  </a:txBody>
                  <a:tcPr>
                    <a:solidFill>
                      <a:srgbClr val="D7AD5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071018"/>
                          </a:solidFill>
                        </a:defRPr>
                      </a:pPr>
                      <a:r>
                        <a:t>Primary customer</a:t>
                      </a:r>
                    </a:p>
                  </a:txBody>
                  <a:tcPr>
                    <a:solidFill>
                      <a:srgbClr val="D7AD5B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F5F8FA"/>
                          </a:solidFill>
                        </a:defRPr>
                      </a:pPr>
                      <a:r>
                        <a:t>Consumer</a:t>
                      </a:r>
                    </a:p>
                  </a:txBody>
                  <a:tcPr>
                    <a:solidFill>
                      <a:srgbClr val="1121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F5F8FA"/>
                          </a:solidFill>
                        </a:defRPr>
                      </a:pPr>
                      <a:r>
                        <a:t>$50/mo</a:t>
                      </a:r>
                    </a:p>
                  </a:txBody>
                  <a:tcPr>
                    <a:solidFill>
                      <a:srgbClr val="1121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F5F8FA"/>
                          </a:solidFill>
                        </a:defRPr>
                      </a:pPr>
                      <a:r>
                        <a:t>Retail investors and wealth builders</a:t>
                      </a:r>
                    </a:p>
                  </a:txBody>
                  <a:tcPr>
                    <a:solidFill>
                      <a:srgbClr val="112130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F5F8FA"/>
                          </a:solidFill>
                        </a:defRPr>
                      </a:pPr>
                      <a:r>
                        <a:t>Professional</a:t>
                      </a:r>
                    </a:p>
                  </a:txBody>
                  <a:tcPr>
                    <a:solidFill>
                      <a:srgbClr val="1121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F5F8FA"/>
                          </a:solidFill>
                        </a:defRPr>
                      </a:pPr>
                      <a:r>
                        <a:t>$299/mo</a:t>
                      </a:r>
                    </a:p>
                  </a:txBody>
                  <a:tcPr>
                    <a:solidFill>
                      <a:srgbClr val="1121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F5F8FA"/>
                          </a:solidFill>
                        </a:defRPr>
                      </a:pPr>
                      <a:r>
                        <a:t>Acquisition entrepreneurs and advisors</a:t>
                      </a:r>
                    </a:p>
                  </a:txBody>
                  <a:tcPr>
                    <a:solidFill>
                      <a:srgbClr val="112130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F5F8FA"/>
                          </a:solidFill>
                        </a:defRPr>
                      </a:pPr>
                      <a:r>
                        <a:t>Enterprise</a:t>
                      </a:r>
                    </a:p>
                  </a:txBody>
                  <a:tcPr>
                    <a:solidFill>
                      <a:srgbClr val="1121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F5F8FA"/>
                          </a:solidFill>
                        </a:defRPr>
                      </a:pPr>
                      <a:r>
                        <a:t>$1,500+/mo</a:t>
                      </a:r>
                    </a:p>
                  </a:txBody>
                  <a:tcPr>
                    <a:solidFill>
                      <a:srgbClr val="1121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F5F8FA"/>
                          </a:solidFill>
                        </a:defRPr>
                      </a:pPr>
                      <a:r>
                        <a:t>Family offices, firms, CPAs, attorneys, bankers</a:t>
                      </a:r>
                    </a:p>
                  </a:txBody>
                  <a:tcPr>
                    <a:solidFill>
                      <a:srgbClr val="112130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914400" y="4023360"/>
            <a:ext cx="1005840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F5F8FA"/>
                </a:solidFill>
              </a:defRPr>
            </a:pPr>
            <a:r>
              <a:t>Expansion: annual contracts, branded reports, AI diligence jobs, integrations, API access, and white-label reporting.</a:t>
            </a:r>
          </a:p>
          <a:p>
            <a:pPr>
              <a:spcAft>
                <a:spcPts val="800"/>
              </a:spcAft>
              <a:defRPr sz="1600">
                <a:solidFill>
                  <a:srgbClr val="F5F8FA"/>
                </a:solidFill>
              </a:defRPr>
            </a:pPr>
            <a:r>
              <a:t>Enterprise ACH/wire billing can reduce card processing cost and improve net margin.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0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2014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5F8FA"/>
                </a:solidFill>
              </a:rPr>
              <a:t>Revenue projection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788A96"/>
                </a:solidFill>
              </a:rPr>
              <a:t>Base-case blended SaaS mix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788A96"/>
                </a:solidFill>
              </a:defRPr>
            </a:pPr>
            <a:r>
              <a:t>John Henry Investments Platform | Confidential planning draft | 6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731520" y="1280160"/>
          <a:ext cx="10698480" cy="4389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0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2014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5F8FA"/>
                </a:solidFill>
              </a:rPr>
              <a:t>Expenditure projection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788A96"/>
                </a:solidFill>
              </a:rPr>
              <a:t>Platform operations, staffing, legal, marketing, payment processing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788A96"/>
                </a:solidFill>
              </a:defRPr>
            </a:pPr>
            <a:r>
              <a:t>John Henry Investments Platform | Confidential planning draft | 7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731520" y="1280160"/>
          <a:ext cx="10698480" cy="4389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0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2014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5F8FA"/>
                </a:solidFill>
              </a:rPr>
              <a:t>Marketing projection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788A96"/>
                </a:solidFill>
              </a:rPr>
              <a:t>Spend and blended CAC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788A96"/>
                </a:solidFill>
              </a:defRPr>
            </a:pPr>
            <a:r>
              <a:t>John Henry Investments Platform | Confidential planning draft | 8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731520" y="1234440"/>
          <a:ext cx="5486400" cy="42976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537960" y="1417320"/>
          <a:ext cx="475488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84960"/>
                <a:gridCol w="1584960"/>
                <a:gridCol w="1584960"/>
              </a:tblGrid>
              <a:tr h="64008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71018"/>
                          </a:solidFill>
                        </a:defRPr>
                      </a:pPr>
                      <a:r>
                        <a:t>Year</a:t>
                      </a:r>
                    </a:p>
                  </a:txBody>
                  <a:tcPr>
                    <a:solidFill>
                      <a:srgbClr val="D7AD5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71018"/>
                          </a:solidFill>
                        </a:defRPr>
                      </a:pPr>
                      <a:r>
                        <a:t>New users</a:t>
                      </a:r>
                    </a:p>
                  </a:txBody>
                  <a:tcPr>
                    <a:solidFill>
                      <a:srgbClr val="D7AD5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71018"/>
                          </a:solidFill>
                        </a:defRPr>
                      </a:pPr>
                      <a:r>
                        <a:t>Blended CAC</a:t>
                      </a:r>
                    </a:p>
                  </a:txBody>
                  <a:tcPr>
                    <a:solidFill>
                      <a:srgbClr val="D7AD5B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F5F8FA"/>
                          </a:solidFill>
                        </a:defRPr>
                      </a:pPr>
                      <a:r>
                        <a:t>Y1</a:t>
                      </a:r>
                    </a:p>
                  </a:txBody>
                  <a:tcPr>
                    <a:solidFill>
                      <a:srgbClr val="1121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F5F8FA"/>
                          </a:solidFill>
                        </a:defRPr>
                      </a:pPr>
                      <a:r>
                        <a:t>1,000</a:t>
                      </a:r>
                    </a:p>
                  </a:txBody>
                  <a:tcPr>
                    <a:solidFill>
                      <a:srgbClr val="1121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F5F8FA"/>
                          </a:solidFill>
                        </a:defRPr>
                      </a:pPr>
                      <a:r>
                        <a:t>$180</a:t>
                      </a:r>
                    </a:p>
                  </a:txBody>
                  <a:tcPr>
                    <a:solidFill>
                      <a:srgbClr val="112130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F5F8FA"/>
                          </a:solidFill>
                        </a:defRPr>
                      </a:pPr>
                      <a:r>
                        <a:t>Y2</a:t>
                      </a:r>
                    </a:p>
                  </a:txBody>
                  <a:tcPr>
                    <a:solidFill>
                      <a:srgbClr val="1121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F5F8FA"/>
                          </a:solidFill>
                        </a:defRPr>
                      </a:pPr>
                      <a:r>
                        <a:t>4,000</a:t>
                      </a:r>
                    </a:p>
                  </a:txBody>
                  <a:tcPr>
                    <a:solidFill>
                      <a:srgbClr val="1121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F5F8FA"/>
                          </a:solidFill>
                        </a:defRPr>
                      </a:pPr>
                      <a:r>
                        <a:t>$188</a:t>
                      </a:r>
                    </a:p>
                  </a:txBody>
                  <a:tcPr>
                    <a:solidFill>
                      <a:srgbClr val="112130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F5F8FA"/>
                          </a:solidFill>
                        </a:defRPr>
                      </a:pPr>
                      <a:r>
                        <a:t>Y3</a:t>
                      </a:r>
                    </a:p>
                  </a:txBody>
                  <a:tcPr>
                    <a:solidFill>
                      <a:srgbClr val="1121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F5F8FA"/>
                          </a:solidFill>
                        </a:defRPr>
                      </a:pPr>
                      <a:r>
                        <a:t>10,000</a:t>
                      </a:r>
                    </a:p>
                  </a:txBody>
                  <a:tcPr>
                    <a:solidFill>
                      <a:srgbClr val="1121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F5F8FA"/>
                          </a:solidFill>
                        </a:defRPr>
                      </a:pPr>
                      <a:r>
                        <a:t>$225</a:t>
                      </a:r>
                    </a:p>
                  </a:txBody>
                  <a:tcPr>
                    <a:solidFill>
                      <a:srgbClr val="112130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F5F8FA"/>
                          </a:solidFill>
                        </a:defRPr>
                      </a:pPr>
                      <a:r>
                        <a:t>Y4</a:t>
                      </a:r>
                    </a:p>
                  </a:txBody>
                  <a:tcPr>
                    <a:solidFill>
                      <a:srgbClr val="1121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F5F8FA"/>
                          </a:solidFill>
                        </a:defRPr>
                      </a:pPr>
                      <a:r>
                        <a:t>35,000</a:t>
                      </a:r>
                    </a:p>
                  </a:txBody>
                  <a:tcPr>
                    <a:solidFill>
                      <a:srgbClr val="1121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F5F8FA"/>
                          </a:solidFill>
                        </a:defRPr>
                      </a:pPr>
                      <a:r>
                        <a:t>$229</a:t>
                      </a:r>
                    </a:p>
                  </a:txBody>
                  <a:tcPr>
                    <a:solidFill>
                      <a:srgbClr val="112130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F5F8FA"/>
                          </a:solidFill>
                        </a:defRPr>
                      </a:pPr>
                      <a:r>
                        <a:t>Y5</a:t>
                      </a:r>
                    </a:p>
                  </a:txBody>
                  <a:tcPr>
                    <a:solidFill>
                      <a:srgbClr val="1121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F5F8FA"/>
                          </a:solidFill>
                        </a:defRPr>
                      </a:pPr>
                      <a:r>
                        <a:t>50,000</a:t>
                      </a:r>
                    </a:p>
                  </a:txBody>
                  <a:tcPr>
                    <a:solidFill>
                      <a:srgbClr val="1121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F5F8FA"/>
                          </a:solidFill>
                        </a:defRPr>
                      </a:pPr>
                      <a:r>
                        <a:t>$280</a:t>
                      </a:r>
                    </a:p>
                  </a:txBody>
                  <a:tcPr>
                    <a:solidFill>
                      <a:srgbClr val="11213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0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2014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5F8FA"/>
                </a:solidFill>
              </a:rPr>
              <a:t>EBITDA projection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788A96"/>
                </a:solidFill>
              </a:rPr>
              <a:t>Base-case after staffing, marketing, legal, platform ops, and payment processing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788A96"/>
                </a:solidFill>
              </a:defRPr>
            </a:pPr>
            <a:r>
              <a:t>John Henry Investments Platform | Confidential planning draft | 9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731520" y="1280160"/>
          <a:ext cx="10698480" cy="4389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0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2014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5F8FA"/>
                </a:solidFill>
              </a:rPr>
              <a:t>Discounted cash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788A96"/>
                </a:solidFill>
              </a:rPr>
              <a:t>Base-case planning 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788A96"/>
                </a:solidFill>
              </a:defRPr>
            </a:pPr>
            <a:r>
              <a:t>John Henry Investments Platform | Confidential planning draft | 10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2148840" cy="960120"/>
          </a:xfrm>
          <a:prstGeom prst="rect">
            <a:avLst/>
          </a:prstGeom>
          <a:solidFill>
            <a:srgbClr val="112130"/>
          </a:solidFill>
          <a:ln>
            <a:solidFill>
              <a:srgbClr val="D7AD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61D394"/>
                </a:solidFill>
              </a:defRPr>
            </a:pPr>
            <a:r>
              <a:t>18%</a:t>
            </a:r>
          </a:p>
          <a:p>
            <a:pPr>
              <a:defRPr sz="900">
                <a:solidFill>
                  <a:srgbClr val="F5F8FA"/>
                </a:solidFill>
              </a:defRPr>
            </a:pPr>
            <a:r>
              <a:t>Discount rate</a:t>
            </a:r>
          </a:p>
        </p:txBody>
      </p:sp>
      <p:sp>
        <p:nvSpPr>
          <p:cNvPr id="6" name="Rectangle 5"/>
          <p:cNvSpPr/>
          <p:nvPr/>
        </p:nvSpPr>
        <p:spPr>
          <a:xfrm>
            <a:off x="3063240" y="1234440"/>
            <a:ext cx="2148840" cy="960120"/>
          </a:xfrm>
          <a:prstGeom prst="rect">
            <a:avLst/>
          </a:prstGeom>
          <a:solidFill>
            <a:srgbClr val="112130"/>
          </a:solidFill>
          <a:ln>
            <a:solidFill>
              <a:srgbClr val="D7AD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61D394"/>
                </a:solidFill>
              </a:defRPr>
            </a:pPr>
            <a:r>
              <a:t>3%</a:t>
            </a:r>
          </a:p>
          <a:p>
            <a:pPr>
              <a:defRPr sz="900">
                <a:solidFill>
                  <a:srgbClr val="F5F8FA"/>
                </a:solidFill>
              </a:defRPr>
            </a:pPr>
            <a:r>
              <a:t>Terminal growth</a:t>
            </a:r>
          </a:p>
        </p:txBody>
      </p:sp>
      <p:sp>
        <p:nvSpPr>
          <p:cNvPr id="7" name="Rectangle 6"/>
          <p:cNvSpPr/>
          <p:nvPr/>
        </p:nvSpPr>
        <p:spPr>
          <a:xfrm>
            <a:off x="5394960" y="1234440"/>
            <a:ext cx="2148840" cy="960120"/>
          </a:xfrm>
          <a:prstGeom prst="rect">
            <a:avLst/>
          </a:prstGeom>
          <a:solidFill>
            <a:srgbClr val="112130"/>
          </a:solidFill>
          <a:ln>
            <a:solidFill>
              <a:srgbClr val="D7AD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61D394"/>
                </a:solidFill>
              </a:defRPr>
            </a:pPr>
            <a:r>
              <a:t>$233.7M</a:t>
            </a:r>
          </a:p>
          <a:p>
            <a:pPr>
              <a:defRPr sz="900">
                <a:solidFill>
                  <a:srgbClr val="F5F8FA"/>
                </a:solidFill>
              </a:defRPr>
            </a:pPr>
            <a:r>
              <a:t>Terminal value</a:t>
            </a:r>
          </a:p>
        </p:txBody>
      </p:sp>
      <p:sp>
        <p:nvSpPr>
          <p:cNvPr id="8" name="Rectangle 7"/>
          <p:cNvSpPr/>
          <p:nvPr/>
        </p:nvSpPr>
        <p:spPr>
          <a:xfrm>
            <a:off x="7726679" y="1234440"/>
            <a:ext cx="2148840" cy="960120"/>
          </a:xfrm>
          <a:prstGeom prst="rect">
            <a:avLst/>
          </a:prstGeom>
          <a:solidFill>
            <a:srgbClr val="112130"/>
          </a:solidFill>
          <a:ln>
            <a:solidFill>
              <a:srgbClr val="D7AD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61D394"/>
                </a:solidFill>
              </a:defRPr>
            </a:pPr>
            <a:r>
              <a:t>$133.5M</a:t>
            </a:r>
          </a:p>
          <a:p>
            <a:pPr>
              <a:defRPr sz="900">
                <a:solidFill>
                  <a:srgbClr val="F5F8FA"/>
                </a:solidFill>
              </a:defRPr>
            </a:pPr>
            <a:r>
              <a:t>DCF enterprise value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788920"/>
            <a:ext cx="1051560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F5F8FA"/>
                </a:solidFill>
              </a:defRPr>
            </a:pPr>
            <a:r>
              <a:t>DCF uses FCF after cash taxes, capex, and working-capital needs.</a:t>
            </a:r>
          </a:p>
          <a:p>
            <a:pPr>
              <a:spcAft>
                <a:spcPts val="800"/>
              </a:spcAft>
              <a:defRPr sz="1700">
                <a:solidFill>
                  <a:srgbClr val="F5F8FA"/>
                </a:solidFill>
              </a:defRPr>
            </a:pPr>
            <a:r>
              <a:t>Model is intentionally more conservative than ARR-multiple valuation.</a:t>
            </a:r>
          </a:p>
          <a:p>
            <a:pPr>
              <a:spcAft>
                <a:spcPts val="800"/>
              </a:spcAft>
              <a:defRPr sz="1700">
                <a:solidFill>
                  <a:srgbClr val="F5F8FA"/>
                </a:solidFill>
              </a:defRPr>
            </a:pPr>
            <a:r>
              <a:t>Upside depends on enterprise pricing, lower CAC, lower AI cost, annual contracts, and retention.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0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2014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5F8FA"/>
                </a:solidFill>
              </a:rPr>
              <a:t>Personnel hierarchy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788A96"/>
                </a:solidFill>
              </a:rPr>
              <a:t>Sustainable organization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788A96"/>
                </a:solidFill>
              </a:defRPr>
            </a:pPr>
            <a:r>
              <a:t>John Henry Investments Platform | Confidential planning draft | 11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097280"/>
            <a:ext cx="2148840" cy="960120"/>
          </a:xfrm>
          <a:prstGeom prst="rect">
            <a:avLst/>
          </a:prstGeom>
          <a:solidFill>
            <a:srgbClr val="112130"/>
          </a:solidFill>
          <a:ln>
            <a:solidFill>
              <a:srgbClr val="D7AD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61D394"/>
                </a:solidFill>
              </a:defRPr>
            </a:pPr>
            <a:r>
              <a:t>3-7</a:t>
            </a:r>
          </a:p>
          <a:p>
            <a:pPr>
              <a:defRPr sz="900">
                <a:solidFill>
                  <a:srgbClr val="F5F8FA"/>
                </a:solidFill>
              </a:defRPr>
            </a:pPr>
            <a:r>
              <a:t>Year 1 team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0" y="1097280"/>
            <a:ext cx="2148840" cy="960120"/>
          </a:xfrm>
          <a:prstGeom prst="rect">
            <a:avLst/>
          </a:prstGeom>
          <a:solidFill>
            <a:srgbClr val="112130"/>
          </a:solidFill>
          <a:ln>
            <a:solidFill>
              <a:srgbClr val="D7AD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61D394"/>
                </a:solidFill>
              </a:defRPr>
            </a:pPr>
            <a:r>
              <a:t>20-45</a:t>
            </a:r>
          </a:p>
          <a:p>
            <a:pPr>
              <a:defRPr sz="900">
                <a:solidFill>
                  <a:srgbClr val="F5F8FA"/>
                </a:solidFill>
              </a:defRPr>
            </a:pPr>
            <a:r>
              <a:t>Year 3 team</a:t>
            </a:r>
          </a:p>
        </p:txBody>
      </p:sp>
      <p:sp>
        <p:nvSpPr>
          <p:cNvPr id="7" name="Rectangle 6"/>
          <p:cNvSpPr/>
          <p:nvPr/>
        </p:nvSpPr>
        <p:spPr>
          <a:xfrm>
            <a:off x="4846320" y="1097280"/>
            <a:ext cx="2148840" cy="960120"/>
          </a:xfrm>
          <a:prstGeom prst="rect">
            <a:avLst/>
          </a:prstGeom>
          <a:solidFill>
            <a:srgbClr val="112130"/>
          </a:solidFill>
          <a:ln>
            <a:solidFill>
              <a:srgbClr val="D7AD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61D394"/>
                </a:solidFill>
              </a:defRPr>
            </a:pPr>
            <a:r>
              <a:t>75-160</a:t>
            </a:r>
          </a:p>
          <a:p>
            <a:pPr>
              <a:defRPr sz="900">
                <a:solidFill>
                  <a:srgbClr val="F5F8FA"/>
                </a:solidFill>
              </a:defRPr>
            </a:pPr>
            <a:r>
              <a:t>Year 4 team</a:t>
            </a:r>
          </a:p>
        </p:txBody>
      </p:sp>
      <p:sp>
        <p:nvSpPr>
          <p:cNvPr id="8" name="Rectangle 7"/>
          <p:cNvSpPr/>
          <p:nvPr/>
        </p:nvSpPr>
        <p:spPr>
          <a:xfrm>
            <a:off x="6949440" y="1097280"/>
            <a:ext cx="2148840" cy="960120"/>
          </a:xfrm>
          <a:prstGeom prst="rect">
            <a:avLst/>
          </a:prstGeom>
          <a:solidFill>
            <a:srgbClr val="112130"/>
          </a:solidFill>
          <a:ln>
            <a:solidFill>
              <a:srgbClr val="D7AD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61D394"/>
                </a:solidFill>
              </a:defRPr>
            </a:pPr>
            <a:r>
              <a:t>150-350</a:t>
            </a:r>
          </a:p>
          <a:p>
            <a:pPr>
              <a:defRPr sz="900">
                <a:solidFill>
                  <a:srgbClr val="F5F8FA"/>
                </a:solidFill>
              </a:defRPr>
            </a:pPr>
            <a:r>
              <a:t>Year 5 team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514600"/>
            <a:ext cx="1005840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F5F8FA"/>
                </a:solidFill>
              </a:defRPr>
            </a:pPr>
            <a:r>
              <a:t>Founder / CEO</a:t>
            </a:r>
          </a:p>
          <a:p>
            <a:pPr>
              <a:spcAft>
                <a:spcPts val="800"/>
              </a:spcAft>
              <a:defRPr sz="1500">
                <a:solidFill>
                  <a:srgbClr val="F5F8FA"/>
                </a:solidFill>
              </a:defRPr>
            </a:pPr>
            <a:r>
              <a:t>Product + Design</a:t>
            </a:r>
          </a:p>
          <a:p>
            <a:pPr>
              <a:spcAft>
                <a:spcPts val="800"/>
              </a:spcAft>
              <a:defRPr sz="1500">
                <a:solidFill>
                  <a:srgbClr val="F5F8FA"/>
                </a:solidFill>
              </a:defRPr>
            </a:pPr>
            <a:r>
              <a:t>Engineering</a:t>
            </a:r>
          </a:p>
          <a:p>
            <a:pPr>
              <a:spcAft>
                <a:spcPts val="800"/>
              </a:spcAft>
              <a:defRPr sz="1500">
                <a:solidFill>
                  <a:srgbClr val="F5F8FA"/>
                </a:solidFill>
              </a:defRPr>
            </a:pPr>
            <a:r>
              <a:t>AI / Data / Research</a:t>
            </a:r>
          </a:p>
          <a:p>
            <a:pPr>
              <a:spcAft>
                <a:spcPts val="800"/>
              </a:spcAft>
              <a:defRPr sz="1500">
                <a:solidFill>
                  <a:srgbClr val="F5F8FA"/>
                </a:solidFill>
              </a:defRPr>
            </a:pPr>
            <a:r>
              <a:t>Security + DevOps</a:t>
            </a:r>
          </a:p>
          <a:p>
            <a:pPr>
              <a:spcAft>
                <a:spcPts val="800"/>
              </a:spcAft>
              <a:defRPr sz="1500">
                <a:solidFill>
                  <a:srgbClr val="F5F8FA"/>
                </a:solidFill>
              </a:defRPr>
            </a:pPr>
            <a:r>
              <a:t>Operations + Customer Success</a:t>
            </a:r>
          </a:p>
          <a:p>
            <a:pPr>
              <a:spcAft>
                <a:spcPts val="800"/>
              </a:spcAft>
              <a:defRPr sz="1500">
                <a:solidFill>
                  <a:srgbClr val="F5F8FA"/>
                </a:solidFill>
              </a:defRPr>
            </a:pPr>
            <a:r>
              <a:t>Sales + Partnerships</a:t>
            </a:r>
          </a:p>
          <a:p>
            <a:pPr>
              <a:spcAft>
                <a:spcPts val="800"/>
              </a:spcAft>
              <a:defRPr sz="1500">
                <a:solidFill>
                  <a:srgbClr val="F5F8FA"/>
                </a:solidFill>
              </a:defRPr>
            </a:pPr>
            <a:r>
              <a:t>Finance + Accounting</a:t>
            </a:r>
          </a:p>
          <a:p>
            <a:pPr>
              <a:spcAft>
                <a:spcPts val="800"/>
              </a:spcAft>
              <a:defRPr sz="1500">
                <a:solidFill>
                  <a:srgbClr val="F5F8FA"/>
                </a:solidFill>
              </a:defRPr>
            </a:pPr>
            <a:r>
              <a:t>Legal + Compliance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0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2014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5F8FA"/>
                </a:solidFill>
              </a:rPr>
              <a:t>Competitive moat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788A96"/>
                </a:solidFill>
              </a:rPr>
              <a:t>Data, workflow, and scoring defensibility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788A96"/>
                </a:solidFill>
              </a:defRPr>
            </a:pPr>
            <a:r>
              <a:t>John Henry Investments Platform | Confidential planning draft |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234440"/>
            <a:ext cx="1051560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F5F8FA"/>
                </a:solidFill>
              </a:defRPr>
            </a:pPr>
            <a:r>
              <a:t>Proprietary John Henry Opportunity Score and explainability layer.</a:t>
            </a:r>
          </a:p>
          <a:p>
            <a:pPr>
              <a:spcAft>
                <a:spcPts val="800"/>
              </a:spcAft>
              <a:defRPr sz="1600">
                <a:solidFill>
                  <a:srgbClr val="F5F8FA"/>
                </a:solidFill>
              </a:defRPr>
            </a:pPr>
            <a:r>
              <a:t>AI due diligence engine learns from structured acquisition and financial workflows.</a:t>
            </a:r>
          </a:p>
          <a:p>
            <a:pPr>
              <a:spcAft>
                <a:spcPts val="800"/>
              </a:spcAft>
              <a:defRPr sz="1600">
                <a:solidFill>
                  <a:srgbClr val="F5F8FA"/>
                </a:solidFill>
              </a:defRPr>
            </a:pPr>
            <a:r>
              <a:t>Integrated accounting, CRM, portfolio, reports, and Office exports reduce switching.</a:t>
            </a:r>
          </a:p>
          <a:p>
            <a:pPr>
              <a:spcAft>
                <a:spcPts val="800"/>
              </a:spcAft>
              <a:defRPr sz="1600">
                <a:solidFill>
                  <a:srgbClr val="F5F8FA"/>
                </a:solidFill>
              </a:defRPr>
            </a:pPr>
            <a:r>
              <a:t>Enterprise data, report history, and diligence workspaces create compounding value.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0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2014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5F8FA"/>
                </a:solidFill>
              </a:rPr>
              <a:t>Go-to-market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788A96"/>
                </a:solidFill>
              </a:rPr>
              <a:t>Start with higher-value professional users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788A96"/>
                </a:solidFill>
              </a:defRPr>
            </a:pPr>
            <a:r>
              <a:t>John Henry Investments Platform | Confidential planning draft | 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234440"/>
            <a:ext cx="1051560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F5F8FA"/>
                </a:solidFill>
              </a:defRPr>
            </a:pPr>
            <a:r>
              <a:t>Phase 1: founder-led controlled beta with acquisition entrepreneurs and advisors.</a:t>
            </a:r>
          </a:p>
          <a:p>
            <a:pPr>
              <a:spcAft>
                <a:spcPts val="800"/>
              </a:spcAft>
              <a:defRPr sz="1600">
                <a:solidFill>
                  <a:srgbClr val="F5F8FA"/>
                </a:solidFill>
              </a:defRPr>
            </a:pPr>
            <a:r>
              <a:t>Phase 2: professional plan launch with due diligence and acquisition workflows.</a:t>
            </a:r>
          </a:p>
          <a:p>
            <a:pPr>
              <a:spcAft>
                <a:spcPts val="800"/>
              </a:spcAft>
              <a:defRPr sz="1600">
                <a:solidFill>
                  <a:srgbClr val="F5F8FA"/>
                </a:solidFill>
              </a:defRPr>
            </a:pPr>
            <a:r>
              <a:t>Phase 3: CPA, attorney, banker, and family office referral partnerships.</a:t>
            </a:r>
          </a:p>
          <a:p>
            <a:pPr>
              <a:spcAft>
                <a:spcPts val="800"/>
              </a:spcAft>
              <a:defRPr sz="1600">
                <a:solidFill>
                  <a:srgbClr val="F5F8FA"/>
                </a:solidFill>
              </a:defRPr>
            </a:pPr>
            <a:r>
              <a:t>Phase 4: enterprise pilots with branded reports, integrations, and team accounts.</a:t>
            </a:r>
          </a:p>
          <a:p>
            <a:pPr>
              <a:spcAft>
                <a:spcPts val="800"/>
              </a:spcAft>
              <a:defRPr sz="1600">
                <a:solidFill>
                  <a:srgbClr val="F5F8FA"/>
                </a:solidFill>
              </a:defRPr>
            </a:pPr>
            <a:r>
              <a:t>Phase 5: consumer subscription scale after proof of retention and support economics.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0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2014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5F8FA"/>
                </a:solidFill>
              </a:rPr>
              <a:t>Risk controls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788A96"/>
                </a:solidFill>
              </a:rPr>
              <a:t>Required before broad paid launch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788A96"/>
                </a:solidFill>
              </a:defRPr>
            </a:pPr>
            <a:r>
              <a:t>John Henry Investments Platform | Confidential planning draft |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234440"/>
            <a:ext cx="1051560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F5F8FA"/>
                </a:solidFill>
              </a:defRPr>
            </a:pPr>
            <a:r>
              <a:t>Financial, tax, legal, accounting, and AI-output disclaimers.</a:t>
            </a:r>
          </a:p>
          <a:p>
            <a:pPr>
              <a:spcAft>
                <a:spcPts val="800"/>
              </a:spcAft>
              <a:defRPr sz="1600">
                <a:solidFill>
                  <a:srgbClr val="F5F8FA"/>
                </a:solidFill>
              </a:defRPr>
            </a:pPr>
            <a:r>
              <a:t>Privacy policy, terms, data retention, and integration consent language.</a:t>
            </a:r>
          </a:p>
          <a:p>
            <a:pPr>
              <a:spcAft>
                <a:spcPts val="800"/>
              </a:spcAft>
              <a:defRPr sz="1600">
                <a:solidFill>
                  <a:srgbClr val="F5F8FA"/>
                </a:solidFill>
              </a:defRPr>
            </a:pPr>
            <a:r>
              <a:t>Role-based access control, audit logs, secure storage, and webhook verification.</a:t>
            </a:r>
          </a:p>
          <a:p>
            <a:pPr>
              <a:spcAft>
                <a:spcPts val="800"/>
              </a:spcAft>
              <a:defRPr sz="1600">
                <a:solidFill>
                  <a:srgbClr val="F5F8FA"/>
                </a:solidFill>
              </a:defRPr>
            </a:pPr>
            <a:r>
              <a:t>Human review for high-risk due diligence and investment-related outputs.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0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2014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5F8FA"/>
                </a:solidFill>
              </a:rPr>
              <a:t>Use of funds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788A96"/>
                </a:solidFill>
              </a:rPr>
              <a:t>Milestone-based capital allocation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788A96"/>
                </a:solidFill>
              </a:defRPr>
            </a:pPr>
            <a:r>
              <a:t>John Henry Investments Platform | Confidential planning draft | 15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85800" y="1188720"/>
          <a:ext cx="1088136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40680"/>
                <a:gridCol w="5440680"/>
              </a:tblGrid>
              <a:tr h="74676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71018"/>
                          </a:solidFill>
                        </a:defRPr>
                      </a:pPr>
                      <a:r>
                        <a:t>Category</a:t>
                      </a:r>
                    </a:p>
                  </a:txBody>
                  <a:tcPr>
                    <a:solidFill>
                      <a:srgbClr val="D7AD5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71018"/>
                          </a:solidFill>
                        </a:defRPr>
                      </a:pPr>
                      <a:r>
                        <a:t>Use</a:t>
                      </a:r>
                    </a:p>
                  </a:txBody>
                  <a:tcPr>
                    <a:solidFill>
                      <a:srgbClr val="D7AD5B"/>
                    </a:solidFill>
                  </a:tcPr>
                </a:tc>
              </a:tr>
              <a:tr h="74676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F5F8FA"/>
                          </a:solidFill>
                        </a:defRPr>
                      </a:pPr>
                      <a:r>
                        <a:t>Product engineering</a:t>
                      </a:r>
                    </a:p>
                  </a:txBody>
                  <a:tcPr>
                    <a:solidFill>
                      <a:srgbClr val="1121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F5F8FA"/>
                          </a:solidFill>
                        </a:defRPr>
                      </a:pPr>
                      <a:r>
                        <a:t>Auth, billing, database, AI, scoring, document workflows</a:t>
                      </a:r>
                    </a:p>
                  </a:txBody>
                  <a:tcPr>
                    <a:solidFill>
                      <a:srgbClr val="112130"/>
                    </a:solidFill>
                  </a:tcPr>
                </a:tc>
              </a:tr>
              <a:tr h="74676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F5F8FA"/>
                          </a:solidFill>
                        </a:defRPr>
                      </a:pPr>
                      <a:r>
                        <a:t>Infrastructure</a:t>
                      </a:r>
                    </a:p>
                  </a:txBody>
                  <a:tcPr>
                    <a:solidFill>
                      <a:srgbClr val="1121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F5F8FA"/>
                          </a:solidFill>
                        </a:defRPr>
                      </a:pPr>
                      <a:r>
                        <a:t>PostgreSQL, storage, workers, monitoring, security</a:t>
                      </a:r>
                    </a:p>
                  </a:txBody>
                  <a:tcPr>
                    <a:solidFill>
                      <a:srgbClr val="112130"/>
                    </a:solidFill>
                  </a:tcPr>
                </a:tc>
              </a:tr>
              <a:tr h="74676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F5F8FA"/>
                          </a:solidFill>
                        </a:defRPr>
                      </a:pPr>
                      <a:r>
                        <a:t>Compliance</a:t>
                      </a:r>
                    </a:p>
                  </a:txBody>
                  <a:tcPr>
                    <a:solidFill>
                      <a:srgbClr val="1121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F5F8FA"/>
                          </a:solidFill>
                        </a:defRPr>
                      </a:pPr>
                      <a:r>
                        <a:t>Legal review, privacy, disclaimers, advisory analysis</a:t>
                      </a:r>
                    </a:p>
                  </a:txBody>
                  <a:tcPr>
                    <a:solidFill>
                      <a:srgbClr val="112130"/>
                    </a:solidFill>
                  </a:tcPr>
                </a:tc>
              </a:tr>
              <a:tr h="74676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F5F8FA"/>
                          </a:solidFill>
                        </a:defRPr>
                      </a:pPr>
                      <a:r>
                        <a:t>Go-to-market</a:t>
                      </a:r>
                    </a:p>
                  </a:txBody>
                  <a:tcPr>
                    <a:solidFill>
                      <a:srgbClr val="1121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F5F8FA"/>
                          </a:solidFill>
                        </a:defRPr>
                      </a:pPr>
                      <a:r>
                        <a:t>Beta customers, professional launch, partnerships</a:t>
                      </a:r>
                    </a:p>
                  </a:txBody>
                  <a:tcPr>
                    <a:solidFill>
                      <a:srgbClr val="112130"/>
                    </a:solidFill>
                  </a:tcPr>
                </a:tc>
              </a:tr>
              <a:tr h="74676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F5F8FA"/>
                          </a:solidFill>
                        </a:defRPr>
                      </a:pPr>
                      <a:r>
                        <a:t>Operations</a:t>
                      </a:r>
                    </a:p>
                  </a:txBody>
                  <a:tcPr>
                    <a:solidFill>
                      <a:srgbClr val="1121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F5F8FA"/>
                          </a:solidFill>
                        </a:defRPr>
                      </a:pPr>
                      <a:r>
                        <a:t>Support, finance, reporting, account management</a:t>
                      </a:r>
                    </a:p>
                  </a:txBody>
                  <a:tcPr>
                    <a:solidFill>
                      <a:srgbClr val="11213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0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2014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5F8FA"/>
                </a:solidFill>
              </a:rPr>
              <a:t>Investor ask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788A96"/>
                </a:solidFill>
              </a:rPr>
              <a:t>Recommended structure to finalize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788A96"/>
                </a:solidFill>
              </a:defRPr>
            </a:pPr>
            <a:r>
              <a:t>John Henry Investments Platform | Confidential planning draft | 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234440"/>
            <a:ext cx="1051560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F5F8FA"/>
                </a:solidFill>
              </a:defRPr>
            </a:pPr>
            <a:r>
              <a:t>Define amount to raise around milestones, not only valuation.</a:t>
            </a:r>
          </a:p>
          <a:p>
            <a:pPr>
              <a:spcAft>
                <a:spcPts val="800"/>
              </a:spcAft>
              <a:defRPr sz="1600">
                <a:solidFill>
                  <a:srgbClr val="F5F8FA"/>
                </a:solidFill>
              </a:defRPr>
            </a:pPr>
            <a:r>
              <a:t>Fund production MVP, legal/compliance package, Stripe, database persistence, AI scoring, document workflows, and pilot customers.</a:t>
            </a:r>
          </a:p>
          <a:p>
            <a:pPr>
              <a:spcAft>
                <a:spcPts val="800"/>
              </a:spcAft>
              <a:defRPr sz="1600">
                <a:solidFill>
                  <a:srgbClr val="F5F8FA"/>
                </a:solidFill>
              </a:defRPr>
            </a:pPr>
            <a:r>
              <a:t>Potential instruments: SAFE, convertible note, priced equity, or strategic investment.</a:t>
            </a:r>
          </a:p>
          <a:p>
            <a:pPr>
              <a:spcAft>
                <a:spcPts val="800"/>
              </a:spcAft>
              <a:defRPr sz="1600">
                <a:solidFill>
                  <a:srgbClr val="F5F8FA"/>
                </a:solidFill>
              </a:defRPr>
            </a:pPr>
            <a:r>
              <a:t>Next diligence items: live spreadsheet, customer discovery, legal memo, product screenshots, pilot LOIs.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0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2014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5F8FA"/>
                </a:solidFill>
              </a:rPr>
              <a:t>Additional recommendations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788A96"/>
                </a:solidFill>
              </a:rPr>
              <a:t>Items investors will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788A96"/>
                </a:solidFill>
              </a:defRPr>
            </a:pPr>
            <a:r>
              <a:t>John Henry Investments Platform | Confidential planning draft | 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234440"/>
            <a:ext cx="1051560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F5F8FA"/>
                </a:solidFill>
              </a:defRPr>
            </a:pPr>
            <a:r>
              <a:t>Churn, retention, and net revenue retention model.</a:t>
            </a:r>
          </a:p>
          <a:p>
            <a:pPr>
              <a:spcAft>
                <a:spcPts val="800"/>
              </a:spcAft>
              <a:defRPr sz="1600">
                <a:solidFill>
                  <a:srgbClr val="F5F8FA"/>
                </a:solidFill>
              </a:defRPr>
            </a:pPr>
            <a:r>
              <a:t>Customer acquisition channel model and sales pipeline.</a:t>
            </a:r>
          </a:p>
          <a:p>
            <a:pPr>
              <a:spcAft>
                <a:spcPts val="800"/>
              </a:spcAft>
              <a:defRPr sz="1600">
                <a:solidFill>
                  <a:srgbClr val="F5F8FA"/>
                </a:solidFill>
              </a:defRPr>
            </a:pPr>
            <a:r>
              <a:t>Competitive landscape and acquirer universe.</a:t>
            </a:r>
          </a:p>
          <a:p>
            <a:pPr>
              <a:spcAft>
                <a:spcPts val="800"/>
              </a:spcAft>
              <a:defRPr sz="1600">
                <a:solidFill>
                  <a:srgbClr val="F5F8FA"/>
                </a:solidFill>
              </a:defRPr>
            </a:pPr>
            <a:r>
              <a:t>Compliance roadmap and risk memo.</a:t>
            </a:r>
          </a:p>
          <a:p>
            <a:pPr>
              <a:spcAft>
                <a:spcPts val="800"/>
              </a:spcAft>
              <a:defRPr sz="1600">
                <a:solidFill>
                  <a:srgbClr val="F5F8FA"/>
                </a:solidFill>
              </a:defRPr>
            </a:pPr>
            <a:r>
              <a:t>Data moat and scoring methodology appendix.</a:t>
            </a:r>
          </a:p>
          <a:p>
            <a:pPr>
              <a:spcAft>
                <a:spcPts val="800"/>
              </a:spcAft>
              <a:defRPr sz="1600">
                <a:solidFill>
                  <a:srgbClr val="F5F8FA"/>
                </a:solidFill>
              </a:defRPr>
            </a:pPr>
            <a:r>
              <a:t>Product screenshots, demo video, and pilot customer quotes.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0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2014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5F8FA"/>
                </a:solidFill>
              </a:rPr>
              <a:t>Closing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788A96"/>
                </a:solidFill>
              </a:rPr>
              <a:t>From investment company to fintech operating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788A96"/>
                </a:solidFill>
              </a:defRPr>
            </a:pPr>
            <a:r>
              <a:t>John Henry Investments Platform | Confidential planning draft |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234440"/>
            <a:ext cx="1051560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F5F8FA"/>
                </a:solidFill>
              </a:defRPr>
            </a:pPr>
            <a:r>
              <a:t>John Henry Investments Platform can become an AI-powered investment research, acquisition intelligence, due diligence, and family office operating system.</a:t>
            </a:r>
          </a:p>
          <a:p>
            <a:pPr>
              <a:spcAft>
                <a:spcPts val="800"/>
              </a:spcAft>
              <a:defRPr sz="1600">
                <a:solidFill>
                  <a:srgbClr val="F5F8FA"/>
                </a:solidFill>
              </a:defRPr>
            </a:pPr>
            <a:r>
              <a:t>The strongest assets are the proprietary score, diligence engine, report workflows, and integrated financial data layer.</a:t>
            </a:r>
          </a:p>
          <a:p>
            <a:pPr>
              <a:spcAft>
                <a:spcPts val="800"/>
              </a:spcAft>
              <a:defRPr sz="1600">
                <a:solidFill>
                  <a:srgbClr val="F5F8FA"/>
                </a:solidFill>
              </a:defRPr>
            </a:pPr>
            <a:r>
              <a:t>Immediate next step: define raise amount, pilot customers, compliance posture, and production MVP roadmap.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